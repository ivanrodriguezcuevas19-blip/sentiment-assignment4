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9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0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685800"/>
            <a:ext cx="1051560" cy="1051560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" name="Text 1"/>
          <p:cNvSpPr/>
          <p:nvPr/>
        </p:nvSpPr>
        <p:spPr>
          <a:xfrm>
            <a:off x="9738360" y="685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4" name="Shape 2"/>
          <p:cNvSpPr/>
          <p:nvPr/>
        </p:nvSpPr>
        <p:spPr>
          <a:xfrm>
            <a:off x="10378440" y="1051560"/>
            <a:ext cx="1051560" cy="1051560"/>
          </a:xfrm>
          <a:prstGeom prst="ellipse">
            <a:avLst/>
          </a:prstGeom>
          <a:solidFill>
            <a:srgbClr val="424242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1037844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" name="Shape 4"/>
          <p:cNvSpPr/>
          <p:nvPr/>
        </p:nvSpPr>
        <p:spPr>
          <a:xfrm>
            <a:off x="9738360" y="1417320"/>
            <a:ext cx="1051560" cy="1051560"/>
          </a:xfrm>
          <a:prstGeom prst="ellipse">
            <a:avLst/>
          </a:prstGeom>
          <a:solidFill>
            <a:srgbClr val="8E1616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7" name="Text 5"/>
          <p:cNvSpPr/>
          <p:nvPr/>
        </p:nvSpPr>
        <p:spPr>
          <a:xfrm>
            <a:off x="973836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Amazon Product Reviews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VADER, TextBlob &amp; BERT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Rodriguez &amp; Sehdev Singh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806440"/>
            <a:ext cx="9144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#4  |  Sentiment Analysis Practice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Amazon Fine Food Reviews (Kaggle)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Machines Read Between the Lines?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automatically detects positive, negative, or neutral opinion in text. This project builds a complete local pipeline that scores real customer reviews and asks a harder question than most tutorials: which method actually gets it right?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868680" y="32644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pipeline: collect → process → store → visualize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8" name="Text 6"/>
          <p:cNvSpPr/>
          <p:nvPr/>
        </p:nvSpPr>
        <p:spPr>
          <a:xfrm>
            <a:off x="868680" y="37673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 sentiment methods on the same 40,000 reviews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/>
          <p:nvPr/>
        </p:nvSpPr>
        <p:spPr>
          <a:xfrm>
            <a:off x="868680" y="42702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each method against real ground truth (star ratings)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/>
          <p:nvPr/>
        </p:nvSpPr>
        <p:spPr>
          <a:xfrm>
            <a:off x="868680" y="47731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where automated sentiment scoring breaks down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95160" y="1554479"/>
            <a:ext cx="4617720" cy="4765297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/>
          <p:nvPr/>
        </p:nvSpPr>
        <p:spPr>
          <a:xfrm>
            <a:off x="6995160" y="19202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7269480" y="30175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methods compared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52360" y="3703320"/>
            <a:ext cx="3703320" cy="0"/>
          </a:xfrm>
          <a:prstGeom prst="line">
            <a:avLst/>
          </a:prstGeom>
          <a:noFill/>
          <a:ln w="12700">
            <a:solidFill>
              <a:srgbClr val="3B478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7" name="Text 15"/>
          <p:cNvSpPr/>
          <p:nvPr/>
        </p:nvSpPr>
        <p:spPr>
          <a:xfrm>
            <a:off x="6995160" y="3886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40,000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7269480" y="46177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Amazon reviews scored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5074920"/>
            <a:ext cx="3703320" cy="0"/>
          </a:xfrm>
          <a:prstGeom prst="line">
            <a:avLst/>
          </a:prstGeom>
          <a:noFill/>
          <a:ln w="12700">
            <a:solidFill>
              <a:srgbClr val="3B4785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0" name="Text 18"/>
          <p:cNvSpPr/>
          <p:nvPr/>
        </p:nvSpPr>
        <p:spPr>
          <a:xfrm>
            <a:off x="6995160" y="5257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local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269480" y="5806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SQLite, no Azure required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2336" y="196596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Shape 3"/>
          <p:cNvSpPr/>
          <p:nvPr/>
        </p:nvSpPr>
        <p:spPr>
          <a:xfrm>
            <a:off x="1316736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131673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9496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" y="36576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Fine Food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CSV (Kaggle)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3401568"/>
            <a:ext cx="393192" cy="237744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0" name="Shape 8"/>
          <p:cNvSpPr/>
          <p:nvPr/>
        </p:nvSpPr>
        <p:spPr>
          <a:xfrm>
            <a:off x="3374136" y="196596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Shape 9"/>
          <p:cNvSpPr/>
          <p:nvPr/>
        </p:nvSpPr>
        <p:spPr>
          <a:xfrm>
            <a:off x="4288536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/>
          <p:nvPr/>
        </p:nvSpPr>
        <p:spPr>
          <a:xfrm>
            <a:off x="428853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11296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11296" y="36576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VADER, TextBlob &amp;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scoring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3401568"/>
            <a:ext cx="393192" cy="237744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6" name="Shape 14"/>
          <p:cNvSpPr/>
          <p:nvPr/>
        </p:nvSpPr>
        <p:spPr>
          <a:xfrm>
            <a:off x="6345936" y="196596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7" name="Shape 15"/>
          <p:cNvSpPr/>
          <p:nvPr/>
        </p:nvSpPr>
        <p:spPr>
          <a:xfrm>
            <a:off x="7260336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/>
          <p:nvPr/>
        </p:nvSpPr>
        <p:spPr>
          <a:xfrm>
            <a:off x="726033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83096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83096" y="36576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(reviews + scores)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69680" y="3401568"/>
            <a:ext cx="393192" cy="237744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2" name="Shape 20"/>
          <p:cNvSpPr/>
          <p:nvPr/>
        </p:nvSpPr>
        <p:spPr>
          <a:xfrm>
            <a:off x="9317736" y="196596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3" name="Shape 21"/>
          <p:cNvSpPr/>
          <p:nvPr/>
        </p:nvSpPr>
        <p:spPr>
          <a:xfrm>
            <a:off x="10232136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4" name="Text 22"/>
          <p:cNvSpPr/>
          <p:nvPr/>
        </p:nvSpPr>
        <p:spPr>
          <a:xfrm>
            <a:off x="1023213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454896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454896" y="36576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+ plotly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equivalent of the Azure reference architecture (Blob Storage → Data Factory → SQL Server → Power BI) — the assignment allows Azure to be optional, so this pipeline runs entirely local with open-source tools.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Fine Food Reviews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Kaggle's Amazon Fine Food Reviews dataset (568,454 reviews total). A sample of 40,000 reviews was used for this analysis, with each review's star rating (1–5) converted into a ground-truth sentiment label for evaluation.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★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    </a:t>
            </a:r>
            <a:r>
              <a:rPr lang="en-US" sz="13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★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    </a:t>
            </a: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★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" y="342900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8" name="Text 6"/>
          <p:cNvSpPr/>
          <p:nvPr/>
        </p:nvSpPr>
        <p:spPr>
          <a:xfrm>
            <a:off x="585216" y="37947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31,284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85216" y="4663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" y="50749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 of dataset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9976" y="342900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/>
          <p:nvPr/>
        </p:nvSpPr>
        <p:spPr>
          <a:xfrm>
            <a:off x="4379976" y="37947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575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3,016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379976" y="4663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reviews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79976" y="50749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 of dataset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74736" y="342900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6" name="Text 14"/>
          <p:cNvSpPr/>
          <p:nvPr/>
        </p:nvSpPr>
        <p:spPr>
          <a:xfrm>
            <a:off x="8174736" y="37947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5,700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174736" y="4663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74736" y="50749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 of dataset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dataset is heavily imbalanced toward positive reviews, this matters for interpreting accuracy later.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Approaches, One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60020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5" name="Shape 3"/>
          <p:cNvSpPr/>
          <p:nvPr/>
        </p:nvSpPr>
        <p:spPr>
          <a:xfrm>
            <a:off x="768096" y="1874520"/>
            <a:ext cx="594360" cy="59436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768096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99616" y="1892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8096" y="26517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lexicon scoring tuned for short, informal text.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" y="3712464"/>
            <a:ext cx="73152" cy="7315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/>
          <p:nvPr/>
        </p:nvSpPr>
        <p:spPr>
          <a:xfrm>
            <a:off x="950976" y="3584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no training needed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68096" y="4279392"/>
            <a:ext cx="73152" cy="7315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/>
          <p:nvPr/>
        </p:nvSpPr>
        <p:spPr>
          <a:xfrm>
            <a:off x="950976" y="41513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compound score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096" y="4846320"/>
            <a:ext cx="73152" cy="7315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/>
          <p:nvPr/>
        </p:nvSpPr>
        <p:spPr>
          <a:xfrm>
            <a:off x="950976" y="47183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social/review text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34256" y="160020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6" name="Shape 14"/>
          <p:cNvSpPr/>
          <p:nvPr/>
        </p:nvSpPr>
        <p:spPr>
          <a:xfrm>
            <a:off x="4608576" y="1874520"/>
            <a:ext cx="594360" cy="594360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7" name="Text 15"/>
          <p:cNvSpPr/>
          <p:nvPr/>
        </p:nvSpPr>
        <p:spPr>
          <a:xfrm>
            <a:off x="4608576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40096" y="1892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TextBlob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08576" y="26517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polarity scoring from a simple Python API.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08576" y="3712464"/>
            <a:ext cx="73152" cy="73152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1" name="Text 19"/>
          <p:cNvSpPr/>
          <p:nvPr/>
        </p:nvSpPr>
        <p:spPr>
          <a:xfrm>
            <a:off x="4791456" y="3584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widely used baseline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08576" y="4279392"/>
            <a:ext cx="73152" cy="73152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3" name="Text 21"/>
          <p:cNvSpPr/>
          <p:nvPr/>
        </p:nvSpPr>
        <p:spPr>
          <a:xfrm>
            <a:off x="4791456" y="41513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does POS-tagging, etc.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08576" y="4846320"/>
            <a:ext cx="73152" cy="73152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5" name="Text 23"/>
          <p:cNvSpPr/>
          <p:nvPr/>
        </p:nvSpPr>
        <p:spPr>
          <a:xfrm>
            <a:off x="4791456" y="47183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 course material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74736" y="160020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27" name="Shape 25"/>
          <p:cNvSpPr/>
          <p:nvPr/>
        </p:nvSpPr>
        <p:spPr>
          <a:xfrm>
            <a:off x="8449056" y="1874520"/>
            <a:ext cx="594360" cy="594360"/>
          </a:xfrm>
          <a:prstGeom prst="ellipse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8" name="Text 26"/>
          <p:cNvSpPr/>
          <p:nvPr/>
        </p:nvSpPr>
        <p:spPr>
          <a:xfrm>
            <a:off x="8449056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180576" y="1892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DistilBERT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449056" y="26517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 fine-tuned on the SST-2 sentiment task.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49056" y="3712464"/>
            <a:ext cx="73152" cy="73152"/>
          </a:xfrm>
          <a:prstGeom prst="ellipse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2" name="Text 30"/>
          <p:cNvSpPr/>
          <p:nvPr/>
        </p:nvSpPr>
        <p:spPr>
          <a:xfrm>
            <a:off x="8631936" y="3584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/ contextual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449056" y="4279392"/>
            <a:ext cx="73152" cy="73152"/>
          </a:xfrm>
          <a:prstGeom prst="ellipse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4" name="Text 32"/>
          <p:cNvSpPr/>
          <p:nvPr/>
        </p:nvSpPr>
        <p:spPr>
          <a:xfrm>
            <a:off x="8631936" y="41513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BERT — lighter, faster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449056" y="4846320"/>
            <a:ext cx="73152" cy="73152"/>
          </a:xfrm>
          <a:prstGeom prst="ellipse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6" name="Text 34"/>
          <p:cNvSpPr/>
          <p:nvPr/>
        </p:nvSpPr>
        <p:spPr>
          <a:xfrm>
            <a:off x="8631936" y="47183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Positive/Negative only, natively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vs. Star-Rating Ground Truth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0" y="169164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3"/>
          <p:cNvSpPr/>
          <p:nvPr/>
        </p:nvSpPr>
        <p:spPr>
          <a:xfrm>
            <a:off x="7772400" y="1828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77240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— highest accuracy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0" y="339242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9" name="Text 6"/>
          <p:cNvSpPr/>
          <p:nvPr/>
        </p:nvSpPr>
        <p:spPr>
          <a:xfrm>
            <a:off x="8001000" y="326440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edges out both other methods on this dataset, its lexicon is well suited to short, informal review text.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435254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1" name="Text 8"/>
          <p:cNvSpPr/>
          <p:nvPr/>
        </p:nvSpPr>
        <p:spPr>
          <a:xfrm>
            <a:off x="8001000" y="42245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and BERT land within 1 point of each other, but for different reasons (see next slide).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0" y="531266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3" name="Text 10"/>
          <p:cNvSpPr/>
          <p:nvPr/>
        </p:nvSpPr>
        <p:spPr>
          <a:xfrm>
            <a:off x="8001000" y="518464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sit close to the 78% positive-class baseline, accuracy alone can be misleading here.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B5A4DF-849E-9D1E-9F7F-72A25D156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61" y="1136964"/>
            <a:ext cx="7433379" cy="5309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Hides the Real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is dominated by the 78% positive class. Breaking each method down by class (F1-score) shows very different strengths — especially on the minority Negative and Neutral reviews.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947690"/>
              </p:ext>
            </p:extLst>
          </p:nvPr>
        </p:nvGraphicFramePr>
        <p:xfrm>
          <a:off x="548640" y="2377440"/>
          <a:ext cx="11064240" cy="1719072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TextBlob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7" name="Text 4"/>
          <p:cNvSpPr/>
          <p:nvPr/>
        </p:nvSpPr>
        <p:spPr>
          <a:xfrm>
            <a:off x="777240" y="450799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fails on Neutral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481888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scores of 0.05 - 0.14: 3-star reviews often mix praise and complaints, and none of the three approaches can reliably separate “mixed” from “mild” sentiment.</a:t>
            </a:r>
            <a:endParaRPr lang="en-US" sz="1150" dirty="0"/>
          </a:p>
        </p:txBody>
      </p:sp>
      <p:sp>
        <p:nvSpPr>
          <p:cNvPr id="5" name="Shape 6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0" name="Text 7"/>
          <p:cNvSpPr/>
          <p:nvPr/>
        </p:nvSpPr>
        <p:spPr>
          <a:xfrm>
            <a:off x="777240" y="55138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wins on Negative recall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58247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0.57 F1 on Negative reviews beats VADER (0.48) and TextBlob (0.40), valuable if catching complaints matters more than raw accuracy.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VADER Gets Confused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086600" y="16916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matrix: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86600" y="21488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29,815 / 31,284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86600" y="245059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true-Positive reviews correctly classified (95.3%)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86600" y="32004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3,131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86600" y="350215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true-Negative reviews mislabeled as Positive — the largest single error group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86600" y="42519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2,375 + 520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86600" y="455371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true-Neutral reviews split almost entirely into Positive or Negative — only 121 correctly kept Neutral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86600" y="5440680"/>
            <a:ext cx="4526280" cy="1051560"/>
          </a:xfrm>
          <a:prstGeom prst="roundRect">
            <a:avLst>
              <a:gd name="adj" fmla="val 6957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3" name="Text 10"/>
          <p:cNvSpPr/>
          <p:nvPr/>
        </p:nvSpPr>
        <p:spPr>
          <a:xfrm>
            <a:off x="7315200" y="555955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8D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Neutral is essentially invisible to VADER - only 4% of true-neutral reviews were classified correctly.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C4D03C-05F5-07D4-EFA8-5608BC005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13" y="1298448"/>
            <a:ext cx="5768787" cy="48073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Sentiment at a Glance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5486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predicted 88.3% of all reviews as Positive, close to, but higher than, the 78.2% true positive rate.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09360" y="5486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reviews score near +1.0 (strongly positive) or spread thinly across the negative range, few land near the neutral thresholds, which is exactly why the Neutral class is so hard to hit.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95B7B9-AD95-9BCD-623B-FF735E550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4" y="1298448"/>
            <a:ext cx="5765157" cy="41179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922353-93EB-33A9-8331-BB4225B63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992" y="1552634"/>
            <a:ext cx="6004368" cy="37527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Sentiment?</a:t>
            </a:r>
            <a:endParaRPr lang="en-US" sz="3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A1D361-4EFA-6E65-27D8-A1735C945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1421239"/>
            <a:ext cx="10927081" cy="46830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09728" cy="1508760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1051560" y="1828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overall: VADER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51560" y="2313432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raw accuracy (80.5%) and strongest Positive-class F1 (0.90), the right default for fast, general-purpose scoring.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109728" cy="1508760"/>
          </a:xfrm>
          <a:prstGeom prst="roundRect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/>
          <p:nvPr/>
        </p:nvSpPr>
        <p:spPr>
          <a:xfrm>
            <a:off x="6766560" y="1828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 catching complaints: BERT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766560" y="2313432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Negative-class F1 (0.57),  better choice when missing a negative review is costly (e.g., customer support triage).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3" name="Shape 11"/>
          <p:cNvSpPr/>
          <p:nvPr/>
        </p:nvSpPr>
        <p:spPr>
          <a:xfrm>
            <a:off x="777240" y="4114800"/>
            <a:ext cx="109728" cy="1508760"/>
          </a:xfrm>
          <a:prstGeom prst="round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/>
          <p:nvPr/>
        </p:nvSpPr>
        <p:spPr>
          <a:xfrm>
            <a:off x="1051560" y="4114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handles Neutral well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51560" y="4599432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methods score under 0.15 F1 on Neutral,  3-star, mixed-sentiment reviews remain a genuine open problem.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7" name="Shape 15"/>
          <p:cNvSpPr/>
          <p:nvPr/>
        </p:nvSpPr>
        <p:spPr>
          <a:xfrm>
            <a:off x="6492240" y="4114800"/>
            <a:ext cx="109728" cy="1508760"/>
          </a:xfrm>
          <a:prstGeom prst="round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/>
          <p:nvPr/>
        </p:nvSpPr>
        <p:spPr>
          <a:xfrm>
            <a:off x="6766560" y="4114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 shapes everything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766560" y="4599432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78% of reviews Positive, accuracy alone rewards guessing Positive - per-class F1 is essential for a fair comparison.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Made This Hard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is inherently ambiguous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3-star review often contains both praise and criticism in the same sentence, no lexicon or model tested could reliably separate this from mild positive/negative sentiment.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8" name="Text 6"/>
          <p:cNvSpPr/>
          <p:nvPr/>
        </p:nvSpPr>
        <p:spPr>
          <a:xfrm>
            <a:off x="6537960" y="1828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skews evaluation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~78% Positive reviews, a method that mostly guesses “Positive” still scores well on raw accuracy - per-class metrics were necessary to get a fair picture.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inference cost on CPU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DistilBERT on the full 568K-row dataset was impractical without a GPU; results here are based on a 40,000-review sample, batched for speed.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93192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/>
          <p:nvPr/>
        </p:nvSpPr>
        <p:spPr>
          <a:xfrm>
            <a:off x="6537960" y="41605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sensitivity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46177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VADER's ±0.05 compound-score cutoff for Positive/Negative is a simple heuristic shifting it changes the Neutral count substantially, as seen in the score distribution chart.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9240" y="1051560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" name="Text 1"/>
          <p:cNvSpPr/>
          <p:nvPr/>
        </p:nvSpPr>
        <p:spPr>
          <a:xfrm>
            <a:off x="53492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4" name="Shape 2"/>
          <p:cNvSpPr/>
          <p:nvPr/>
        </p:nvSpPr>
        <p:spPr>
          <a:xfrm>
            <a:off x="5852160" y="1051560"/>
            <a:ext cx="502920" cy="502920"/>
          </a:xfrm>
          <a:prstGeom prst="ellipse">
            <a:avLst/>
          </a:prstGeom>
          <a:solidFill>
            <a:srgbClr val="424242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58521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" name="Shape 4"/>
          <p:cNvSpPr/>
          <p:nvPr/>
        </p:nvSpPr>
        <p:spPr>
          <a:xfrm>
            <a:off x="6355080" y="1051560"/>
            <a:ext cx="502920" cy="502920"/>
          </a:xfrm>
          <a:prstGeom prst="ellipse">
            <a:avLst/>
          </a:prstGeom>
          <a:solidFill>
            <a:srgbClr val="8E1616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7" name="Text 5"/>
          <p:cNvSpPr/>
          <p:nvPr/>
        </p:nvSpPr>
        <p:spPr>
          <a:xfrm>
            <a:off x="63550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1009</Words>
  <Application>Microsoft Macintosh PowerPoint</Application>
  <PresentationFormat>Widescreen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Ivan Rodriguez</cp:lastModifiedBy>
  <cp:revision>2</cp:revision>
  <dcterms:created xsi:type="dcterms:W3CDTF">2026-07-15T18:54:28Z</dcterms:created>
  <dcterms:modified xsi:type="dcterms:W3CDTF">2026-07-16T00:49:59Z</dcterms:modified>
</cp:coreProperties>
</file>